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097280"/>
            <a:ext cx="4572000" cy="4572000"/>
          </a:xfrm>
          <a:prstGeom prst="ellipse">
            <a:avLst/>
          </a:prstGeom>
          <a:solidFill>
            <a:srgbClr val="0C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5A882"/>
                </a:solidFill>
                <a:latin typeface="Calibri"/>
              </a:rPr>
              <a:t>MX CORRETORA DE SEGUROS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Manual do Usuário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429000"/>
            <a:ext cx="5029200" cy="36576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5A882"/>
                </a:solidFill>
                <a:latin typeface="Calibri"/>
              </a:rPr>
              <a:t>MX DRE-IA  ·  Sistema de Gestão Financeira com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C3B4"/>
                </a:solidFill>
                <a:latin typeface="Calibri"/>
              </a:rPr>
              <a:t>MX Corretora de Seguros  ·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 que é o DRE-IA?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  <a:latin typeface="Calibri"/>
              </a:rPr>
              <a:t>Plataforma inteligente de gestão financeira desenvolvida exclusivamente para a MX Seguros.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•  Visualização do DRE (Demonstrativo de Resultado do Exercício) em tempo real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•  Dashboard executivo com KPIs financeiros e variação mensal/anual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•  Assistente de Inteligência Artificial para análise e interpretação dos dados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•  Controle completo de lançamentos financeiros com fluxo de aprovação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•  Exportação de relatórios em PDF e Excel com um clique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•  Acesso por perfis: Administrador, Gestor, Comercial e Contador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•  Auditoria completa de todas as ações realizadas no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Como Acessar 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  <a:latin typeface="Calibri"/>
              </a:rPr>
              <a:t>Siga os passos abaixo para realizar o login com segurança: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1.  Abra o navegador (recomendado: Google Chrome ou Microsoft Edge, versão atualizada).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2.  Acesse o endereço fornecido pelo administrador: https://dre.mxseguros.com.br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3.  Insira seu e-mail corporativo no campo 'E-mail'.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4.  Digite sua senha pessoal no campo 'Senha' (mínimo 8 caracteres).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5.  Clique em 'Entrar' para acessar o sistema.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6.  Caso esqueça a senha, clique em 'Esqueci minha senha' e siga as instruções enviadas ao e-mail.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505050"/>
                </a:solidFill>
                <a:latin typeface="Calibri"/>
              </a:rPr>
              <a:t>7.  Em caso de bloqueio de conta (5 tentativas incorretas), acione o Administrador.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Perfis de Acesso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  <a:latin typeface="Calibri"/>
              </a:rPr>
              <a:t>Cada usuário possui permissões específicas conforme seu perfil: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107899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107899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71934"/>
                </a:solidFill>
                <a:latin typeface="Calibri"/>
              </a:rPr>
              <a:t>Administrador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389888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  <a:latin typeface="Calibri"/>
              </a:rPr>
              <a:t>Acesso total: configurações, usuários, aprovações, auditoria, exportações e lançamentos.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11247120" cy="107899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04872"/>
            <a:ext cx="109728" cy="107899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14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71934"/>
                </a:solidFill>
                <a:latin typeface="Calibri"/>
              </a:rPr>
              <a:t>Gestor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5146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  <a:latin typeface="Calibri"/>
              </a:rPr>
              <a:t>Visualização completa do DRE, dashboard, assistente IA, relatórios e aprovação de lançamentos.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9584"/>
            <a:ext cx="11247120" cy="107899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109728" cy="107899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71934"/>
                </a:solidFill>
                <a:latin typeface="Calibri"/>
              </a:rPr>
              <a:t>Comercial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63931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  <a:latin typeface="Calibri"/>
              </a:rPr>
              <a:t>Inserção de lançamentos, visualização de metas e comissões, acesso ao assistente 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54296"/>
            <a:ext cx="11247120" cy="107899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654296"/>
            <a:ext cx="109728" cy="107899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6402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71934"/>
                </a:solidFill>
                <a:latin typeface="Calibri"/>
              </a:rPr>
              <a:t>Contador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764024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  <a:latin typeface="Calibri"/>
              </a:rPr>
              <a:t>Leitura do DRE e relatórios fiscais, exportação de dados, sem permissão de edição.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Visão Geral —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  <a:latin typeface="Calibri"/>
              </a:rPr>
              <a:t>A tela inicial apresenta uma visão consolidada da saúde financeira da empresa: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71934"/>
                </a:solidFill>
                <a:latin typeface="Calibri"/>
              </a:rPr>
              <a:t>Indicadores principais (KPIs)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Receita Total do período selecionado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Despesas Totais e variação vs. período anterior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Lucro Líquido e margem percentual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EBITDA estimado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11247120" cy="36576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71934"/>
                </a:solidFill>
                <a:latin typeface="Calibri"/>
              </a:rPr>
              <a:t>Insights Automáticos da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58768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Alertas de despesas fora do padrão histórico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Previsão de resultado para o mês corrente com base na tendência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Comparativo automático com metas cadastradas pelo Gestor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Tela DRE — Demonstrativo de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  <a:latin typeface="Calibri"/>
              </a:rPr>
              <a:t>A tela de DRE exibe a estrutura completa de receitas, despesas e resultado do exercício: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71934"/>
                </a:solidFill>
                <a:latin typeface="Calibri"/>
              </a:rPr>
              <a:t>Filtro de período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1.  Clique no seletor de período no topo direito da tela.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2.  Escolha Mensal, Trimestral, Semestral ou Anual.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3.  Use 'Período Personalizado' para datas específicas.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4.  Clique em 'Aplicar' — os valores atualizam automaticamente.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11247120" cy="36576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71934"/>
                </a:solidFill>
                <a:latin typeface="Calibri"/>
              </a:rPr>
              <a:t>Gráfico de Evolução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58768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Gráfico de barras comparando Receita × Despesa × Lucro por mês.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Passe o mouse sobre as barras para ver os valores exatos.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Alterne entre gráfico de barras e linha clicando nos ícones no canto superior direito do gráfico.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Assistente de Inteligência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  <a:latin typeface="Calibri"/>
              </a:rPr>
              <a:t>O assistente IA responde perguntas sobre os dados financeiros em linguagem natural: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71934"/>
                </a:solidFill>
                <a:latin typeface="Calibri"/>
              </a:rPr>
              <a:t>Como usar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1.  Clique no ícone de chat ( 💬 ) na barra lateral esquerda.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2.  Digite sua pergunta em português no campo de texto.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3.  Pressione Enter ou clique em 'Enviar'.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4.  A resposta aparece em segundos com análise e contexto dos dados.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71934"/>
                </a:solidFill>
                <a:latin typeface="Calibri"/>
              </a:rPr>
              <a:t>Exemplos de perguntas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67328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›  "Qual foi a maior despesa do trimestre passado?"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›  "Como está nossa margem líquida comparada ao ano anterior?"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›  "Quais categorias estão acima do orçamento este mês?"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›  "Faça um resumo do resultado de janeiro a maio de 2026."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Lançamentos Financeiros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  <a:latin typeface="Calibri"/>
              </a:rPr>
              <a:t>Registre receitas e despesas com todos os campos necessários para o controle contábil: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71934"/>
                </a:solidFill>
                <a:latin typeface="Calibri"/>
              </a:rPr>
              <a:t>Campos obrigatórios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Tipo: Receita ou Despesa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Categoria (ex.: Prêmios de Seguros, Comissões, Salários, Aluguéis)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Valor (R$) e Data de competência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Centro de custo e Descrição detalhada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Comprovante (upload de PDF ou imagem — máx. 5 MB)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37560"/>
            <a:ext cx="11247120" cy="36576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71934"/>
                </a:solidFill>
                <a:latin typeface="Calibri"/>
              </a:rPr>
              <a:t>Fluxo de aprovação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13632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Rascunho  →  Enviado para Revisão  →  Aprovado / Rejeitado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Perfis Comercial e Contador não podem aprovar seus próprios lançamentos.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Gestor e Administrador recebem notificação de novos lançamentos pendentes.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Exportação de Relatórios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  <a:latin typeface="Calibri"/>
              </a:rPr>
              <a:t>Exporte relatórios completos para compartilhamento e arquivamento: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21945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71934"/>
                </a:solidFill>
                <a:latin typeface="Calibri"/>
              </a:rPr>
              <a:t>Exportar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05050"/>
                </a:solidFill>
                <a:latin typeface="Calibri"/>
              </a:rPr>
              <a:t>•  DRE completo com formatação profissional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05050"/>
                </a:solidFill>
                <a:latin typeface="Calibri"/>
              </a:rPr>
              <a:t>•  Capa automática com logo e período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05050"/>
                </a:solidFill>
                <a:latin typeface="Calibri"/>
              </a:rPr>
              <a:t>•  Gráficos incluídos no documento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05050"/>
                </a:solidFill>
                <a:latin typeface="Calibri"/>
              </a:rPr>
              <a:t>•  Assinatura digital opcional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280160"/>
            <a:ext cx="5394960" cy="21945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1280160"/>
            <a:ext cx="109728" cy="2194560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389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71934"/>
                </a:solidFill>
                <a:latin typeface="Calibri"/>
              </a:rPr>
              <a:t>Exportar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187451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05050"/>
                </a:solidFill>
                <a:latin typeface="Calibri"/>
              </a:rPr>
              <a:t>•  Dados tabulares prontos para análise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05050"/>
                </a:solidFill>
                <a:latin typeface="Calibri"/>
              </a:rPr>
              <a:t>•  Abas separadas por categoria e período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05050"/>
                </a:solidFill>
                <a:latin typeface="Calibri"/>
              </a:rPr>
              <a:t>•  Fórmulas preservadas para edição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05050"/>
                </a:solidFill>
                <a:latin typeface="Calibri"/>
              </a:rPr>
              <a:t>•  Compatível com Excel 2016+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57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71934"/>
                </a:solidFill>
                <a:latin typeface="Calibri"/>
              </a:rPr>
              <a:t>Como exportar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87368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1.  Acesse a tela desejada (DRE, Dashboard ou Lançamentos).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2.  Clique no botão 'Exportar' no canto superior direito.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3.  Selecione o formato (PDF ou Excel) e o período.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4.  Clique em 'Gerar Relatório' — o download inicia automaticamente.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Boas Práticas e 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05050"/>
                </a:solidFill>
                <a:latin typeface="Calibri"/>
              </a:rPr>
              <a:t>Siga estas diretrizes para garantir a integridade dos dados e a segurança da informação: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Nunca compartilhe sua senha com colegas — cada usuário deve ter credenciais individuais.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Faça logout sempre que se afastar do computador (menu superior direito → Sair).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Utilize redes corporativas ou VPN ao acessar o sistema fora do escritório.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Certifique-se de inserir lançamentos no período de competência correto.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Anexe sempre o comprovante ao lançamento para facilitar auditoria.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Reporte imediatamente ao Administrador qualquer acesso suspeito ou erro no sistema.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Não utilize a mesma senha do sistema DRE-IA em outros serviços externos.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05050"/>
                </a:solidFill>
                <a:latin typeface="Calibri"/>
              </a:rPr>
              <a:t>•  Atualize sua senha a cada 90 dias como medida preventiva.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4864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Perguntas Frequentes (FAQ)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13232"/>
            <a:ext cx="11247120" cy="1691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13232"/>
            <a:ext cx="109728" cy="169164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8229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1934"/>
                </a:solidFill>
                <a:latin typeface="Calibri"/>
              </a:rPr>
              <a:t>P: O sistema funciona em celular ou tablet?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  <a:latin typeface="Calibri"/>
              </a:rPr>
              <a:t>R: Sim. O DRE-IA é responsivo e funciona em qualquer dispositivo com navegador atualizado. Recomendamos tela mínima de 10 polegadas para melhor experiência.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6312"/>
            <a:ext cx="11247120" cy="1691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96312"/>
            <a:ext cx="109728" cy="169164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1934"/>
                </a:solidFill>
                <a:latin typeface="Calibri"/>
              </a:rPr>
              <a:t>P: O que fazer se um lançamento foi aprovado com valor errado?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4495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  <a:latin typeface="Calibri"/>
              </a:rPr>
              <a:t>R: Acione o Administrador imediatamente. Ele pode reabrir o lançamento para correção. Nunca crie um lançamento duplicado para compensar o erro.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79392"/>
            <a:ext cx="11247120" cy="1691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79392"/>
            <a:ext cx="109728" cy="169164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1934"/>
                </a:solidFill>
                <a:latin typeface="Calibri"/>
              </a:rPr>
              <a:t>P: Os dados do sistema são salvos automaticamente?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28032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05050"/>
                </a:solidFill>
                <a:latin typeface="Calibri"/>
              </a:rPr>
              <a:t>R: Sim. Todos os lançamentos são salvos em tempo real no servidor. Formulários em edição possuem salvamento automático a cada 30 segundos.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2743200"/>
            <a:ext cx="4114800" cy="4114800"/>
          </a:xfrm>
          <a:prstGeom prst="ellipse">
            <a:avLst/>
          </a:prstGeom>
          <a:solidFill>
            <a:srgbClr val="0C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Suporte &amp; Contato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4572000" cy="36576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5A882"/>
                </a:solidFill>
                <a:latin typeface="Calibri"/>
              </a:rPr>
              <a:t>E-mail de suporte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suporte.dre@mxseguros.com.br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620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5A882"/>
                </a:solidFill>
                <a:latin typeface="Calibri"/>
              </a:rPr>
              <a:t>WhatsApp corporativo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82112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(11) 9 0000-0000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667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5A882"/>
                </a:solidFill>
                <a:latin typeface="Calibri"/>
              </a:rPr>
              <a:t>Horário de atendimento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86784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Segunda a Sexta, 08h – 18h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7141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5A882"/>
                </a:solidFill>
                <a:latin typeface="Calibri"/>
              </a:rPr>
              <a:t>Responsável técnico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91456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Equipe de TI — MX Corretora de Seguros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C3B4"/>
                </a:solidFill>
                <a:latin typeface="Calibri"/>
              </a:rPr>
              <a:t>Em caso de urgência fora do horário, utilize o e-mail com assunto [URGENTE].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B5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5928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MX Corretora de Seguros  · 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